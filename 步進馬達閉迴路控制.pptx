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60" r:id="rId4"/>
    <p:sldId id="257" r:id="rId5"/>
    <p:sldId id="261" r:id="rId6"/>
    <p:sldId id="258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8" d="100"/>
          <a:sy n="88" d="100"/>
        </p:scale>
        <p:origin x="82" y="6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05A11-B412-4B6A-8B7E-58F8E1D061D4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39631-175D-49DD-9FD6-180ACE532F0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701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https://zerotech.club/esp32-gpio/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39631-175D-49DD-9FD6-180ACE532F0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713476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https://microcontrollerslab.com/drv8825-stepper-motor-driver-esp8266-tutorial/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39631-175D-49DD-9FD6-180ACE532F0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142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8A964-33B2-F69A-6AE0-D1486B06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7EE9ACA-90E3-3BF0-69AC-16772F77F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11846CD-20A6-71E8-43E0-81ED0EA7EF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https://microcontrollerslab.com/drv8825-stepper-motor-driver-esp8266-tutorial/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B174231-ABA8-C8B1-1E7C-0CDA65BCE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39631-175D-49DD-9FD6-180ACE532F05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1563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https://swf.com.tw/?p=2179</a:t>
            </a:r>
          </a:p>
          <a:p>
            <a:r>
              <a:rPr lang="en-US" altLang="zh-TW" dirty="0"/>
              <a:t>https://makelog.dfrobot.com.cn/article-314700.html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539631-175D-49DD-9FD6-180ACE532F0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4670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DF8C4-4767-BDE0-28C5-34417D969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9992B9D-F960-4F24-4470-61881AE1F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05B695-01F3-6DCA-30D5-79B35DE83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48ED89D-C442-D5CA-367E-34C1BF91B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A2468F-EB2E-5CE5-328C-7A64F9E93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1865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34ED7E-965E-B1DC-3A88-B40CCB0A2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FEC5FA-B5D2-D907-0289-A42EA4473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5875B4-979E-8EE9-7C2A-4B9E6AED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FE3422D-73AF-6186-E9B4-FD3B6F50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A14D86-34C1-B7F7-923D-07C763C4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5579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AC71D8-E7EC-B084-1F47-FD398B562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FE6FB2-934D-3E70-83C0-931E69F515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464251-C176-67E6-E6FE-252794FCD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6551B1-0DF2-AB74-9DE5-9E8D8ABB1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697B7B0-15A9-5BBD-22DA-8B1F0AD60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965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4CC29A-A033-CDF0-08F4-A5D2BD1BA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21BE0F-F631-9EDA-37FE-31BDC6396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64FF841-6E4E-5223-71AD-BE8BEB1C46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E4BB297-3732-02B7-32C9-1BFDB43DA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5F714B9-5E08-C2E2-F70F-7206CE7AD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FA35BF-068C-E5EB-19E5-53B9BAFC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79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FE79F3-1796-E72E-5BBA-4009F976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4B72DA-9F05-BE88-91F3-137DDB562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0BF5E1C-9F80-0004-4BCC-2AF3CE959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58059F1-0BDE-7EE5-49EE-DBE0CBD2A7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B4A551C-8FF5-367A-BC82-6B20FBEDE6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A9650FA-5FEB-C17A-6BB0-45B3AE852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CA850DA-5BE3-E3CA-F2CB-7B10F7B2B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1B56361-57F7-E565-429D-D2CD328B4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852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77EEA3-C8A9-D131-F89A-61EED38B9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2DFF128-F375-C822-2800-5A9681691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1FBF80A-9BF2-C7D6-BC7E-C9BD7A040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BAFB92-147B-A65D-6F00-B7A358E91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217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B635927-40C3-E258-1332-320081A07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A34D176-21DD-3F31-FCFD-57D4A9F01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3B23C6-7192-9C71-549D-7AD036460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8715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A07779-7AB5-C3B8-60F4-AAA7CBEDA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93BA26-F710-85CF-5690-0B00D40D5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570EFD3-70D1-6F51-D2A3-1EDE1624F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3B04D1-FD66-3AAB-9E92-9FE3CE237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5851218-AACE-8B62-055B-C48F1102A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EBCF26B-E122-8A0B-E1BA-7B3FB2405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690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38DC57-F015-4054-2A9B-E55D8D572F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6469981-FCA9-8D7D-EBD8-E138FAEE0A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09E9126-D1FB-CAFE-B4D7-6A4DB0478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A0C22B9-D344-A29C-CACD-FB476556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DEC786-C6F7-AB33-E886-B38C217C7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07F0944-FA98-D90F-EA10-EA3475644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757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B71BCB-4BE4-2B2F-1688-735F61F6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DCE7AAD-7F79-FDA2-3BE9-2942B34218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3C2453B-88F2-C91B-4869-FC84F0AC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3A5623-65C1-4AA2-56C2-D0794F409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6F20B2A-DC78-C62B-7EEC-E4EDBCB0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108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6DEED4F-F8E0-3BB7-745E-9B5AEA9DB5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F1598D9-3C3E-6561-FF65-108E30868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EBEAF2-029F-784A-9DE4-91FB3FB4A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24730F-5770-63BF-4F08-9AF7DEFE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C207ECC-E01D-542A-F5DF-42686DCB3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362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B075077-100B-4EA8-8B90-BD0F0E769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65A9056-DECA-0B66-47E9-AE33312AC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54743E-AAED-8A68-6D09-945B81AB0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12F16C-2703-4D33-B1DC-5707DA918ECF}" type="datetimeFigureOut">
              <a:rPr lang="zh-TW" altLang="en-US" smtClean="0"/>
              <a:t>2025/10/4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AFDBCE-2752-AD5D-285D-BF790D1439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BA3E3DE-457E-226E-4EBA-74EFBAE2A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963E12-F1E2-4BB2-AA35-B6ADE364378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0856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digikey.tw/zh/products/detail/olimex-ltd/SM-17HS4401/25823679" TargetMode="External"/><Relationship Id="rId7" Type="http://schemas.openxmlformats.org/officeDocument/2006/relationships/hyperlink" Target="https://www.ucielectronics.com/products/%E3%80%90uci%E9%9B%BB%E5%AD%90%E3%80%9119-4-42%E6%AD%A5%E9%80%B2%E9%9B%BB%E6%A9%9F-nema17-17hs4401-3d%E5%8D%B0%E8%A1%A8%E6%A9%9F" TargetMode="External"/><Relationship Id="rId2" Type="http://schemas.openxmlformats.org/officeDocument/2006/relationships/hyperlink" Target="https://shopee.tw/NEMA17-17HS4401S-42%E6%AD%A5%E9%80%B2%E9%9B%BB%E6%A9%9F-%E6%AD%A5%E9%80%B2%E9%A6%AC%E9%81%94-3D%E5%8D%B0%E8%A1%A8%E6%A9%9F%E7%94%A8%E9%A6%AC%E9%81%94-i.78933626.2286266651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opee.tw/42%E6%AD%A5%E9%80%B2%E9%9B%BB%E6%A9%9F-D%E5%AD%97%E8%BB%B8-17HS4401-%E6%AD%A5%E9%80%B2%E9%A6%AC%E9%81%94-3D%E5%8D%B0%E8%A1%A8%E6%A9%9F%E7%94%A8-i.3393308.6793532562" TargetMode="External"/><Relationship Id="rId5" Type="http://schemas.openxmlformats.org/officeDocument/2006/relationships/hyperlink" Target="https://shopee.tw/%E3%80%90AI%E9%9B%BB%E5%AD%90%E3%80%91*42%E6%AD%A5%E9%80%B2%E9%9B%BB%E6%A9%9F-NEMA17-17HS4401-3D%E5%8D%B0%E8%A1%A8%E6%A9%9F-i.26861496.831713152" TargetMode="External"/><Relationship Id="rId4" Type="http://schemas.openxmlformats.org/officeDocument/2006/relationships/hyperlink" Target="https://www.rakuten.com.tw/shop/hyhtrade06ruten/product/6hoizqitp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5EF36-2E1A-D5F3-7B5D-76B346451D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步進馬達閉迴路控制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DE5B4ED-EE84-3C22-EE32-ADB4F7D212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1229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4967BB-A4B6-9953-9495-64CF3E958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步進馬達</a:t>
            </a:r>
            <a:r>
              <a:rPr lang="en-US" altLang="zh-TW" dirty="0"/>
              <a:t>:17HS4401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26FB48-779E-DD69-14CE-48F6CEF49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286904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zh-TW" altLang="en-US" sz="1600" dirty="0"/>
              <a:t>步進馬達</a:t>
            </a:r>
            <a:r>
              <a:rPr lang="en-US" altLang="zh-TW" sz="1600" dirty="0"/>
              <a:t>17HS4401</a:t>
            </a:r>
            <a:r>
              <a:rPr lang="zh-TW" altLang="en-US" sz="1600" dirty="0"/>
              <a:t>屬於</a:t>
            </a:r>
            <a:r>
              <a:rPr lang="en-US" altLang="zh-TW" sz="1600" dirty="0"/>
              <a:t>NEMA17</a:t>
            </a:r>
            <a:r>
              <a:rPr lang="zh-TW" altLang="en-US" sz="1600" dirty="0"/>
              <a:t>規格的</a:t>
            </a:r>
            <a:r>
              <a:rPr lang="en-US" altLang="zh-TW" sz="1600" dirty="0"/>
              <a:t>2</a:t>
            </a:r>
            <a:r>
              <a:rPr lang="zh-TW" altLang="en-US" sz="1600" dirty="0"/>
              <a:t>相步進電機。其主要技術參數如下：</a:t>
            </a:r>
          </a:p>
          <a:p>
            <a:pPr>
              <a:lnSpc>
                <a:spcPct val="110000"/>
              </a:lnSpc>
            </a:pPr>
            <a:r>
              <a:rPr lang="zh-TW" altLang="en-US" sz="1600" dirty="0"/>
              <a:t>馬達尺寸：</a:t>
            </a:r>
            <a:r>
              <a:rPr lang="en-US" altLang="zh-TW" sz="1600" dirty="0"/>
              <a:t>42mm × 42mm</a:t>
            </a:r>
            <a:r>
              <a:rPr lang="zh-TW" altLang="en-US" sz="1600" dirty="0"/>
              <a:t>（</a:t>
            </a:r>
            <a:r>
              <a:rPr lang="en-US" altLang="zh-TW" sz="1600" dirty="0"/>
              <a:t>NEMA17</a:t>
            </a:r>
            <a:r>
              <a:rPr lang="zh-TW" altLang="en-US" sz="1600" dirty="0"/>
              <a:t>標準），高度約</a:t>
            </a:r>
            <a:r>
              <a:rPr lang="en-US" altLang="zh-TW" sz="1600" dirty="0"/>
              <a:t>40mm</a:t>
            </a:r>
            <a:r>
              <a:rPr lang="en-US" altLang="zh-TW" sz="1600" dirty="0">
                <a:hlinkClick r:id="rId2"/>
              </a:rPr>
              <a:t>shopee+1</a:t>
            </a:r>
            <a:endParaRPr lang="zh-TW" altLang="en-US" sz="1600" dirty="0"/>
          </a:p>
          <a:p>
            <a:pPr>
              <a:lnSpc>
                <a:spcPct val="110000"/>
              </a:lnSpc>
            </a:pPr>
            <a:r>
              <a:rPr lang="zh-TW" altLang="en-US" sz="1600" dirty="0"/>
              <a:t>步進角：</a:t>
            </a:r>
            <a:r>
              <a:rPr lang="en-US" altLang="zh-TW" sz="1600" dirty="0"/>
              <a:t>1.8°</a:t>
            </a:r>
            <a:r>
              <a:rPr lang="zh-TW" altLang="en-US" sz="1600" dirty="0"/>
              <a:t>（即</a:t>
            </a:r>
            <a:r>
              <a:rPr lang="en-US" altLang="zh-TW" sz="1600" dirty="0"/>
              <a:t>200</a:t>
            </a:r>
            <a:r>
              <a:rPr lang="zh-TW" altLang="en-US" sz="1600" dirty="0"/>
              <a:t>步</a:t>
            </a:r>
            <a:r>
              <a:rPr lang="en-US" altLang="zh-TW" sz="1600" dirty="0"/>
              <a:t>/</a:t>
            </a:r>
            <a:r>
              <a:rPr lang="zh-TW" altLang="en-US" sz="1600" dirty="0"/>
              <a:t>圈）</a:t>
            </a:r>
            <a:r>
              <a:rPr lang="en-US" altLang="zh-TW" sz="1600" dirty="0">
                <a:hlinkClick r:id="rId3"/>
              </a:rPr>
              <a:t>digikey+2</a:t>
            </a:r>
            <a:endParaRPr lang="zh-TW" altLang="en-US" sz="1600" dirty="0"/>
          </a:p>
          <a:p>
            <a:pPr>
              <a:lnSpc>
                <a:spcPct val="110000"/>
              </a:lnSpc>
            </a:pPr>
            <a:r>
              <a:rPr lang="zh-TW" altLang="en-US" sz="1600" dirty="0"/>
              <a:t>保持力矩：約</a:t>
            </a:r>
            <a:r>
              <a:rPr lang="en-US" altLang="zh-TW" sz="1600" dirty="0"/>
              <a:t>40-43N·cm</a:t>
            </a:r>
            <a:r>
              <a:rPr lang="zh-TW" altLang="en-US" sz="1600" dirty="0"/>
              <a:t>（</a:t>
            </a:r>
            <a:r>
              <a:rPr lang="en-US" altLang="zh-TW" sz="1600" dirty="0"/>
              <a:t>0.40-0.43Nm</a:t>
            </a:r>
            <a:r>
              <a:rPr lang="zh-TW" altLang="en-US" sz="1600" dirty="0"/>
              <a:t>）</a:t>
            </a:r>
            <a:r>
              <a:rPr lang="en-US" altLang="zh-TW" sz="1600" dirty="0">
                <a:hlinkClick r:id="rId4"/>
              </a:rPr>
              <a:t>rakuten+1</a:t>
            </a:r>
            <a:endParaRPr lang="zh-TW" altLang="en-US" sz="1600" dirty="0"/>
          </a:p>
          <a:p>
            <a:pPr>
              <a:lnSpc>
                <a:spcPct val="110000"/>
              </a:lnSpc>
            </a:pPr>
            <a:r>
              <a:rPr lang="zh-TW" altLang="en-US" sz="1600" dirty="0"/>
              <a:t>額定電流：</a:t>
            </a:r>
            <a:r>
              <a:rPr lang="en-US" altLang="zh-TW" sz="1600" dirty="0"/>
              <a:t>1.7A</a:t>
            </a:r>
            <a:r>
              <a:rPr lang="zh-TW" altLang="en-US" sz="1600" dirty="0"/>
              <a:t>（有些型號略有不同）</a:t>
            </a:r>
            <a:r>
              <a:rPr lang="en-US" altLang="zh-TW" sz="1600" dirty="0" err="1">
                <a:hlinkClick r:id="rId2"/>
              </a:rPr>
              <a:t>shopee</a:t>
            </a:r>
            <a:endParaRPr lang="zh-TW" altLang="en-US" sz="1600" dirty="0"/>
          </a:p>
          <a:p>
            <a:pPr>
              <a:lnSpc>
                <a:spcPct val="110000"/>
              </a:lnSpc>
            </a:pPr>
            <a:r>
              <a:rPr lang="zh-TW" altLang="en-US" sz="1600" dirty="0"/>
              <a:t>工作電壓範圍：</a:t>
            </a:r>
            <a:r>
              <a:rPr lang="en-US" altLang="zh-TW" sz="1600" dirty="0"/>
              <a:t>12V ~ 36V</a:t>
            </a:r>
            <a:r>
              <a:rPr lang="en-US" altLang="zh-TW" sz="1600" dirty="0">
                <a:hlinkClick r:id="rId2"/>
              </a:rPr>
              <a:t>shopee</a:t>
            </a:r>
            <a:endParaRPr lang="zh-TW" altLang="en-US" sz="1600" dirty="0"/>
          </a:p>
          <a:p>
            <a:pPr>
              <a:lnSpc>
                <a:spcPct val="110000"/>
              </a:lnSpc>
            </a:pPr>
            <a:r>
              <a:rPr lang="zh-TW" altLang="en-US" sz="1600" dirty="0"/>
              <a:t>重量：約</a:t>
            </a:r>
            <a:r>
              <a:rPr lang="en-US" altLang="zh-TW" sz="1600" dirty="0"/>
              <a:t>0.28kg</a:t>
            </a:r>
            <a:r>
              <a:rPr lang="en-US" altLang="zh-TW" sz="1600" dirty="0">
                <a:hlinkClick r:id="rId2"/>
              </a:rPr>
              <a:t>shopee</a:t>
            </a:r>
            <a:endParaRPr lang="zh-TW" altLang="en-US" sz="1600" dirty="0"/>
          </a:p>
          <a:p>
            <a:pPr>
              <a:lnSpc>
                <a:spcPct val="110000"/>
              </a:lnSpc>
            </a:pPr>
            <a:r>
              <a:rPr lang="zh-TW" altLang="en-US" sz="1600" dirty="0"/>
              <a:t>結構：</a:t>
            </a:r>
            <a:r>
              <a:rPr lang="en-US" altLang="zh-TW" sz="1600" dirty="0"/>
              <a:t>2</a:t>
            </a:r>
            <a:r>
              <a:rPr lang="zh-TW" altLang="en-US" sz="1600" dirty="0"/>
              <a:t>相雙極型，需配合恆流步進驅動器（如</a:t>
            </a:r>
            <a:r>
              <a:rPr lang="en-US" altLang="zh-TW" sz="1600" dirty="0"/>
              <a:t>DRV8825</a:t>
            </a:r>
            <a:r>
              <a:rPr lang="zh-TW" altLang="en-US" sz="1600" dirty="0"/>
              <a:t>，</a:t>
            </a:r>
            <a:r>
              <a:rPr lang="en-US" altLang="zh-TW" sz="1600" dirty="0"/>
              <a:t>A4988</a:t>
            </a:r>
            <a:r>
              <a:rPr lang="zh-TW" altLang="en-US" sz="1600" dirty="0"/>
              <a:t>等）</a:t>
            </a:r>
            <a:r>
              <a:rPr lang="en-US" altLang="zh-TW" sz="1600" dirty="0">
                <a:hlinkClick r:id="rId5"/>
              </a:rPr>
              <a:t>shopee+1</a:t>
            </a:r>
            <a:endParaRPr lang="zh-TW" altLang="en-US" sz="1600" dirty="0"/>
          </a:p>
          <a:p>
            <a:pPr>
              <a:lnSpc>
                <a:spcPct val="110000"/>
              </a:lnSpc>
            </a:pPr>
            <a:r>
              <a:rPr lang="zh-TW" altLang="en-US" sz="1600" dirty="0"/>
              <a:t>接線方式：常見</a:t>
            </a:r>
            <a:r>
              <a:rPr lang="en-US" altLang="zh-TW" sz="1600" dirty="0"/>
              <a:t>4</a:t>
            </a:r>
            <a:r>
              <a:rPr lang="zh-TW" altLang="en-US" sz="1600" dirty="0"/>
              <a:t>線設計，適用於</a:t>
            </a:r>
            <a:r>
              <a:rPr lang="en-US" altLang="zh-TW" sz="1600" dirty="0"/>
              <a:t>XH2.54</a:t>
            </a:r>
            <a:r>
              <a:rPr lang="zh-TW" altLang="en-US" sz="1600" dirty="0"/>
              <a:t>插座或杜邦線</a:t>
            </a:r>
            <a:r>
              <a:rPr lang="en-US" altLang="zh-TW" sz="1600" dirty="0" err="1">
                <a:hlinkClick r:id="rId6"/>
              </a:rPr>
              <a:t>shopee</a:t>
            </a:r>
            <a:endParaRPr lang="zh-TW" altLang="en-US" sz="1600" dirty="0"/>
          </a:p>
          <a:p>
            <a:pPr>
              <a:lnSpc>
                <a:spcPct val="110000"/>
              </a:lnSpc>
            </a:pPr>
            <a:r>
              <a:rPr lang="zh-TW" altLang="en-US" sz="1600" dirty="0"/>
              <a:t>低噪音、低發熱、運行平穩、加速性能良好</a:t>
            </a:r>
            <a:r>
              <a:rPr lang="en-US" altLang="zh-TW" sz="1600" dirty="0">
                <a:hlinkClick r:id="rId7"/>
              </a:rPr>
              <a:t>ucielectronics+2</a:t>
            </a:r>
            <a:endParaRPr lang="zh-TW" altLang="en-US" sz="1600" dirty="0"/>
          </a:p>
          <a:p>
            <a:pPr>
              <a:lnSpc>
                <a:spcPct val="110000"/>
              </a:lnSpc>
            </a:pPr>
            <a:r>
              <a:rPr lang="zh-TW" altLang="en-US" sz="1600" dirty="0"/>
              <a:t>適用溫度範圍：</a:t>
            </a:r>
            <a:r>
              <a:rPr lang="en-US" altLang="zh-TW" sz="1600" dirty="0"/>
              <a:t>-20 ~ 50°C</a:t>
            </a:r>
            <a:r>
              <a:rPr lang="zh-TW" altLang="en-US" sz="1600" dirty="0"/>
              <a:t>，最大溫升</a:t>
            </a:r>
            <a:r>
              <a:rPr lang="en-US" altLang="zh-TW" sz="1600" dirty="0"/>
              <a:t>80°C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4DD47F6-960A-9CBF-D209-6E8CE2D593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25104" y="1866682"/>
            <a:ext cx="3934374" cy="31246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68607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40D7AE-25AD-CC8A-E162-43C9C62AB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ESP32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E77AF4-45B8-2AE5-2F61-C270610D1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3826" y="192158"/>
            <a:ext cx="3949148" cy="6612834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altLang="zh-TW" sz="1200" dirty="0"/>
              <a:t>ESP32</a:t>
            </a:r>
            <a:r>
              <a:rPr lang="zh-TW" altLang="en-US" sz="1200" dirty="0"/>
              <a:t>（如</a:t>
            </a:r>
            <a:r>
              <a:rPr lang="en-US" altLang="zh-TW" sz="1200" dirty="0"/>
              <a:t>NodeMCU-32S</a:t>
            </a:r>
            <a:r>
              <a:rPr lang="zh-TW" altLang="en-US" sz="1200" dirty="0"/>
              <a:t>開發板）是一款高集成度、超低功耗的雙核</a:t>
            </a:r>
            <a:r>
              <a:rPr lang="en-US" altLang="zh-TW" sz="1200" dirty="0"/>
              <a:t>Wi-Fi + </a:t>
            </a:r>
            <a:r>
              <a:rPr lang="zh-TW" altLang="en-US" sz="1200" dirty="0"/>
              <a:t>藍牙 </a:t>
            </a:r>
            <a:r>
              <a:rPr lang="en-US" altLang="zh-TW" sz="1200" dirty="0"/>
              <a:t>SoC </a:t>
            </a:r>
            <a:r>
              <a:rPr lang="zh-TW" altLang="en-US" sz="1200" dirty="0"/>
              <a:t>晶片，廣泛應用於物聯網、自動化、機器人與嵌入式系統專案。下方整理了其核心特性、引腳功能及主要應用建議。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b="1" dirty="0"/>
              <a:t>主要特點與規格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dirty="0"/>
              <a:t>雙核 </a:t>
            </a:r>
            <a:r>
              <a:rPr lang="en-US" altLang="zh-TW" sz="1200" dirty="0"/>
              <a:t>32-bit LX6 </a:t>
            </a:r>
            <a:r>
              <a:rPr lang="zh-TW" altLang="en-US" sz="1200" dirty="0"/>
              <a:t>處理器，最高主頻 </a:t>
            </a:r>
            <a:r>
              <a:rPr lang="en-US" altLang="zh-TW" sz="1200" dirty="0"/>
              <a:t>240MHz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dirty="0"/>
              <a:t>內建</a:t>
            </a:r>
            <a:r>
              <a:rPr lang="en-US" altLang="zh-TW" sz="1200" dirty="0"/>
              <a:t>Wi-Fi</a:t>
            </a:r>
            <a:r>
              <a:rPr lang="zh-TW" altLang="en-US" sz="1200" dirty="0"/>
              <a:t>（</a:t>
            </a:r>
            <a:r>
              <a:rPr lang="en-US" altLang="zh-TW" sz="1200" dirty="0"/>
              <a:t>802.11 b/g/n</a:t>
            </a:r>
            <a:r>
              <a:rPr lang="zh-TW" altLang="en-US" sz="1200" dirty="0"/>
              <a:t>）與藍牙</a:t>
            </a:r>
            <a:r>
              <a:rPr lang="en-US" altLang="zh-TW" sz="1200" dirty="0"/>
              <a:t>4.2</a:t>
            </a:r>
            <a:r>
              <a:rPr lang="zh-TW" altLang="en-US" sz="1200" dirty="0"/>
              <a:t>（</a:t>
            </a:r>
            <a:r>
              <a:rPr lang="en-US" altLang="zh-TW" sz="1200" dirty="0"/>
              <a:t>BLE</a:t>
            </a:r>
            <a:r>
              <a:rPr lang="zh-TW" altLang="en-US" sz="1200" dirty="0"/>
              <a:t>和</a:t>
            </a:r>
            <a:r>
              <a:rPr lang="en-US" altLang="zh-TW" sz="1200" dirty="0"/>
              <a:t>BR/EDR</a:t>
            </a:r>
            <a:r>
              <a:rPr lang="zh-TW" altLang="en-US" sz="1200" dirty="0"/>
              <a:t>）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dirty="0"/>
              <a:t>SRAM</a:t>
            </a:r>
            <a:r>
              <a:rPr lang="zh-TW" altLang="en-US" sz="1200" dirty="0"/>
              <a:t>容量</a:t>
            </a:r>
            <a:r>
              <a:rPr lang="en-US" altLang="zh-TW" sz="1200" dirty="0"/>
              <a:t>320KB</a:t>
            </a:r>
            <a:r>
              <a:rPr lang="zh-TW" altLang="en-US" sz="1200" dirty="0"/>
              <a:t>，</a:t>
            </a:r>
            <a:r>
              <a:rPr lang="en-US" altLang="zh-TW" sz="1200" dirty="0"/>
              <a:t>Flash</a:t>
            </a:r>
            <a:r>
              <a:rPr lang="zh-TW" altLang="en-US" sz="1200" dirty="0"/>
              <a:t>容量依</a:t>
            </a:r>
            <a:r>
              <a:rPr lang="en-US" altLang="zh-TW" sz="1200" dirty="0"/>
              <a:t>PCB</a:t>
            </a:r>
            <a:r>
              <a:rPr lang="zh-TW" altLang="en-US" sz="1200" dirty="0"/>
              <a:t>設計選配（常見</a:t>
            </a:r>
            <a:r>
              <a:rPr lang="en-US" altLang="zh-TW" sz="1200" dirty="0"/>
              <a:t>4MB/8MB</a:t>
            </a:r>
            <a:r>
              <a:rPr lang="zh-TW" altLang="en-US" sz="1200" dirty="0"/>
              <a:t>）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dirty="0"/>
              <a:t>多達</a:t>
            </a:r>
            <a:r>
              <a:rPr lang="en-US" altLang="zh-TW" sz="1200" dirty="0"/>
              <a:t>34</a:t>
            </a:r>
            <a:r>
              <a:rPr lang="zh-TW" altLang="en-US" sz="1200" dirty="0"/>
              <a:t>個可程控</a:t>
            </a:r>
            <a:r>
              <a:rPr lang="en-US" altLang="zh-TW" sz="1200" dirty="0"/>
              <a:t>GPIO</a:t>
            </a:r>
            <a:r>
              <a:rPr lang="zh-TW" altLang="en-US" sz="1200" dirty="0"/>
              <a:t>腳位，支援</a:t>
            </a:r>
            <a:r>
              <a:rPr lang="en-US" altLang="zh-TW" sz="1200" dirty="0"/>
              <a:t>ADC</a:t>
            </a:r>
            <a:r>
              <a:rPr lang="zh-TW" altLang="en-US" sz="1200" dirty="0"/>
              <a:t>、</a:t>
            </a:r>
            <a:r>
              <a:rPr lang="en-US" altLang="zh-TW" sz="1200" dirty="0"/>
              <a:t>DAC</a:t>
            </a:r>
            <a:r>
              <a:rPr lang="zh-TW" altLang="en-US" sz="1200" dirty="0"/>
              <a:t>、</a:t>
            </a:r>
            <a:r>
              <a:rPr lang="en-US" altLang="zh-TW" sz="1200" dirty="0"/>
              <a:t>I2C</a:t>
            </a:r>
            <a:r>
              <a:rPr lang="zh-TW" altLang="en-US" sz="1200" dirty="0"/>
              <a:t>、</a:t>
            </a:r>
            <a:r>
              <a:rPr lang="en-US" altLang="zh-TW" sz="1200" dirty="0"/>
              <a:t>SPI</a:t>
            </a:r>
            <a:r>
              <a:rPr lang="zh-TW" altLang="en-US" sz="1200" dirty="0"/>
              <a:t>、</a:t>
            </a:r>
            <a:r>
              <a:rPr lang="en-US" altLang="zh-TW" sz="1200" dirty="0"/>
              <a:t>UART</a:t>
            </a:r>
            <a:r>
              <a:rPr lang="zh-TW" altLang="en-US" sz="1200" dirty="0"/>
              <a:t>、</a:t>
            </a:r>
            <a:r>
              <a:rPr lang="en-US" altLang="zh-TW" sz="1200" dirty="0"/>
              <a:t>PWM</a:t>
            </a:r>
            <a:r>
              <a:rPr lang="zh-TW" altLang="en-US" sz="1200" dirty="0"/>
              <a:t>等多種通訊協定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dirty="0"/>
              <a:t>支援觸控感應、硬體</a:t>
            </a:r>
            <a:r>
              <a:rPr lang="en-US" altLang="zh-TW" sz="1200" dirty="0"/>
              <a:t>PWM</a:t>
            </a:r>
            <a:r>
              <a:rPr lang="zh-TW" altLang="en-US" sz="1200" dirty="0"/>
              <a:t>、模擬輸入</a:t>
            </a:r>
            <a:r>
              <a:rPr lang="en-US" altLang="zh-TW" sz="1200" dirty="0"/>
              <a:t>/</a:t>
            </a:r>
            <a:r>
              <a:rPr lang="zh-TW" altLang="en-US" sz="1200" dirty="0"/>
              <a:t>輸出、極低功耗模式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b="1" dirty="0"/>
              <a:t>Pinout</a:t>
            </a:r>
            <a:r>
              <a:rPr lang="zh-TW" altLang="en-US" sz="1200" b="1" dirty="0"/>
              <a:t>配置與常用功能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dirty="0"/>
              <a:t>ADC</a:t>
            </a:r>
            <a:r>
              <a:rPr lang="zh-TW" altLang="en-US" sz="1200" dirty="0"/>
              <a:t>通道：</a:t>
            </a:r>
            <a:r>
              <a:rPr lang="en-US" altLang="zh-TW" sz="1200" dirty="0"/>
              <a:t>ADC0</a:t>
            </a:r>
            <a:r>
              <a:rPr lang="zh-TW" altLang="en-US" sz="1200" dirty="0"/>
              <a:t>（</a:t>
            </a:r>
            <a:r>
              <a:rPr lang="en-US" altLang="zh-TW" sz="1200" dirty="0"/>
              <a:t>GPIO36</a:t>
            </a:r>
            <a:r>
              <a:rPr lang="zh-TW" altLang="en-US" sz="1200" dirty="0"/>
              <a:t>）、</a:t>
            </a:r>
            <a:r>
              <a:rPr lang="en-US" altLang="zh-TW" sz="1200" dirty="0"/>
              <a:t>ADC1</a:t>
            </a:r>
            <a:r>
              <a:rPr lang="zh-TW" altLang="en-US" sz="1200" dirty="0"/>
              <a:t>（</a:t>
            </a:r>
            <a:r>
              <a:rPr lang="en-US" altLang="zh-TW" sz="1200" dirty="0"/>
              <a:t>GPIO39</a:t>
            </a:r>
            <a:r>
              <a:rPr lang="zh-TW" altLang="en-US" sz="1200" dirty="0"/>
              <a:t>）、</a:t>
            </a:r>
            <a:r>
              <a:rPr lang="en-US" altLang="zh-TW" sz="1200" dirty="0"/>
              <a:t>ADC2</a:t>
            </a:r>
            <a:r>
              <a:rPr lang="zh-TW" altLang="en-US" sz="1200" dirty="0"/>
              <a:t>（</a:t>
            </a:r>
            <a:r>
              <a:rPr lang="en-US" altLang="zh-TW" sz="1200" dirty="0"/>
              <a:t>GPIO34</a:t>
            </a:r>
            <a:r>
              <a:rPr lang="zh-TW" altLang="en-US" sz="1200" dirty="0"/>
              <a:t>）等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dirty="0"/>
              <a:t>DAC</a:t>
            </a:r>
            <a:r>
              <a:rPr lang="zh-TW" altLang="en-US" sz="1200" dirty="0"/>
              <a:t>：</a:t>
            </a:r>
            <a:r>
              <a:rPr lang="en-US" altLang="zh-TW" sz="1200" dirty="0"/>
              <a:t>DAC1</a:t>
            </a:r>
            <a:r>
              <a:rPr lang="zh-TW" altLang="en-US" sz="1200" dirty="0"/>
              <a:t>（</a:t>
            </a:r>
            <a:r>
              <a:rPr lang="en-US" altLang="zh-TW" sz="1200" dirty="0"/>
              <a:t>GPIO25</a:t>
            </a:r>
            <a:r>
              <a:rPr lang="zh-TW" altLang="en-US" sz="1200" dirty="0"/>
              <a:t>）、</a:t>
            </a:r>
            <a:r>
              <a:rPr lang="en-US" altLang="zh-TW" sz="1200" dirty="0"/>
              <a:t>DAC2</a:t>
            </a:r>
            <a:r>
              <a:rPr lang="zh-TW" altLang="en-US" sz="1200" dirty="0"/>
              <a:t>（</a:t>
            </a:r>
            <a:r>
              <a:rPr lang="en-US" altLang="zh-TW" sz="1200" dirty="0"/>
              <a:t>GPIO26</a:t>
            </a:r>
            <a:r>
              <a:rPr lang="zh-TW" altLang="en-US" sz="1200" dirty="0"/>
              <a:t>）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dirty="0"/>
              <a:t>I2C</a:t>
            </a:r>
            <a:r>
              <a:rPr lang="zh-TW" altLang="en-US" sz="1200" dirty="0"/>
              <a:t>：</a:t>
            </a:r>
            <a:r>
              <a:rPr lang="en-US" altLang="zh-TW" sz="1200" dirty="0"/>
              <a:t>I2C SCL</a:t>
            </a:r>
            <a:r>
              <a:rPr lang="zh-TW" altLang="en-US" sz="1200" dirty="0"/>
              <a:t>（</a:t>
            </a:r>
            <a:r>
              <a:rPr lang="en-US" altLang="zh-TW" sz="1200" dirty="0"/>
              <a:t>GPIO22</a:t>
            </a:r>
            <a:r>
              <a:rPr lang="zh-TW" altLang="en-US" sz="1200" dirty="0"/>
              <a:t>）、</a:t>
            </a:r>
            <a:r>
              <a:rPr lang="en-US" altLang="zh-TW" sz="1200" dirty="0"/>
              <a:t>I2C SDA</a:t>
            </a:r>
            <a:r>
              <a:rPr lang="zh-TW" altLang="en-US" sz="1200" dirty="0"/>
              <a:t>（</a:t>
            </a:r>
            <a:r>
              <a:rPr lang="en-US" altLang="zh-TW" sz="1200" dirty="0"/>
              <a:t>GPIO21</a:t>
            </a:r>
            <a:r>
              <a:rPr lang="zh-TW" altLang="en-US" sz="1200" dirty="0"/>
              <a:t>）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dirty="0"/>
              <a:t>UART</a:t>
            </a:r>
            <a:r>
              <a:rPr lang="zh-TW" altLang="en-US" sz="1200" dirty="0"/>
              <a:t>：</a:t>
            </a:r>
            <a:r>
              <a:rPr lang="en-US" altLang="zh-TW" sz="1200" dirty="0"/>
              <a:t>TX0/RX0</a:t>
            </a:r>
            <a:r>
              <a:rPr lang="zh-TW" altLang="en-US" sz="1200" dirty="0"/>
              <a:t>、</a:t>
            </a:r>
            <a:r>
              <a:rPr lang="en-US" altLang="zh-TW" sz="1200" dirty="0"/>
              <a:t>TX2/RX2 </a:t>
            </a:r>
            <a:r>
              <a:rPr lang="zh-TW" altLang="en-US" sz="1200" dirty="0"/>
              <a:t>等支援多組串口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dirty="0"/>
              <a:t>SPI/VSPI/HSPI</a:t>
            </a:r>
            <a:r>
              <a:rPr lang="zh-TW" altLang="en-US" sz="1200" dirty="0"/>
              <a:t>：可選用多組腳位搭配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dirty="0"/>
              <a:t>GPIO</a:t>
            </a:r>
            <a:r>
              <a:rPr lang="zh-TW" altLang="en-US" sz="1200" dirty="0"/>
              <a:t>可自定義，常見數位</a:t>
            </a:r>
            <a:r>
              <a:rPr lang="en-US" altLang="zh-TW" sz="1200" dirty="0"/>
              <a:t>/</a:t>
            </a:r>
            <a:r>
              <a:rPr lang="zh-TW" altLang="en-US" sz="1200" dirty="0"/>
              <a:t>模擬</a:t>
            </a:r>
            <a:r>
              <a:rPr lang="en-US" altLang="zh-TW" sz="1200" dirty="0"/>
              <a:t>I/O</a:t>
            </a:r>
            <a:r>
              <a:rPr lang="zh-TW" altLang="en-US" sz="1200" dirty="0"/>
              <a:t>接口皆有標示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dirty="0"/>
              <a:t>3.3V</a:t>
            </a:r>
            <a:r>
              <a:rPr lang="zh-TW" altLang="en-US" sz="1200" dirty="0"/>
              <a:t>與</a:t>
            </a:r>
            <a:r>
              <a:rPr lang="en-US" altLang="zh-TW" sz="1200" dirty="0"/>
              <a:t>Vin</a:t>
            </a:r>
            <a:r>
              <a:rPr lang="zh-TW" altLang="en-US" sz="1200" dirty="0"/>
              <a:t>腳提供外部電源選擇，</a:t>
            </a:r>
            <a:r>
              <a:rPr lang="en-US" altLang="zh-TW" sz="1200" dirty="0"/>
              <a:t>GND</a:t>
            </a:r>
            <a:r>
              <a:rPr lang="zh-TW" altLang="en-US" sz="1200" dirty="0"/>
              <a:t>腳多組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dirty="0"/>
              <a:t>支援多組觸控感應功能（</a:t>
            </a:r>
            <a:r>
              <a:rPr lang="en-US" altLang="zh-TW" sz="1200" dirty="0"/>
              <a:t>TOUCH0~TOUCH9</a:t>
            </a:r>
            <a:r>
              <a:rPr lang="zh-TW" altLang="en-US" sz="1200" dirty="0"/>
              <a:t>）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0E6AAF6-07D8-9B29-E466-35E585A9C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5625"/>
            <a:ext cx="8083826" cy="414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787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FBACC0-5FA6-5B00-9A56-A4C419309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DRV8825</a:t>
            </a:r>
            <a:r>
              <a:rPr lang="zh-TW" altLang="en-US" b="1" dirty="0"/>
              <a:t>步進驅動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2DAEFEE-271D-2242-D72A-C93077B1C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5670" y="106017"/>
            <a:ext cx="6533321" cy="6520070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altLang="zh-TW" sz="1600" dirty="0"/>
              <a:t>DRV8825</a:t>
            </a:r>
            <a:r>
              <a:rPr lang="zh-TW" altLang="en-US" sz="1600" dirty="0"/>
              <a:t>步進馬達驅動板是一款高性能微步驅動器，常用於</a:t>
            </a:r>
            <a:r>
              <a:rPr lang="en-US" altLang="zh-TW" sz="1600" dirty="0"/>
              <a:t>3D</a:t>
            </a:r>
            <a:r>
              <a:rPr lang="zh-TW" altLang="en-US" sz="1600" dirty="0"/>
              <a:t>印表機、</a:t>
            </a:r>
            <a:r>
              <a:rPr lang="en-US" altLang="zh-TW" sz="1600" dirty="0"/>
              <a:t>CNC</a:t>
            </a:r>
            <a:r>
              <a:rPr lang="zh-TW" altLang="en-US" sz="1600" dirty="0"/>
              <a:t>機、雷雕等領域，支援直接驅動</a:t>
            </a:r>
            <a:r>
              <a:rPr lang="en-US" altLang="zh-TW" sz="1600" dirty="0"/>
              <a:t>NEMA17</a:t>
            </a:r>
            <a:r>
              <a:rPr lang="zh-TW" altLang="en-US" sz="1600" dirty="0"/>
              <a:t>等主流步進馬達。以下為針腳整理與主要功能說明：</a:t>
            </a:r>
          </a:p>
          <a:p>
            <a:pPr algn="just">
              <a:lnSpc>
                <a:spcPct val="100000"/>
              </a:lnSpc>
            </a:pPr>
            <a:r>
              <a:rPr lang="zh-TW" altLang="en-US" sz="1600" b="1" dirty="0"/>
              <a:t>針腳功能分類</a:t>
            </a:r>
          </a:p>
          <a:p>
            <a:pPr algn="just">
              <a:lnSpc>
                <a:spcPct val="100000"/>
              </a:lnSpc>
            </a:pPr>
            <a:r>
              <a:rPr lang="zh-TW" altLang="en-US" sz="1600" b="1" dirty="0"/>
              <a:t>馬達線圈端子</a:t>
            </a:r>
            <a:r>
              <a:rPr lang="zh-TW" altLang="en-US" sz="1600" dirty="0"/>
              <a:t>（藍色）</a:t>
            </a:r>
          </a:p>
          <a:p>
            <a:pPr lvl="1" algn="just">
              <a:lnSpc>
                <a:spcPct val="100000"/>
              </a:lnSpc>
            </a:pPr>
            <a:r>
              <a:rPr lang="en-US" altLang="zh-TW" sz="1600" dirty="0"/>
              <a:t>B2, A2, A1, B1</a:t>
            </a:r>
            <a:r>
              <a:rPr lang="zh-TW" altLang="en-US" sz="1600" dirty="0"/>
              <a:t>：分別對應步進馬達的兩組線圈接線</a:t>
            </a:r>
          </a:p>
          <a:p>
            <a:pPr algn="just">
              <a:lnSpc>
                <a:spcPct val="100000"/>
              </a:lnSpc>
            </a:pPr>
            <a:r>
              <a:rPr lang="zh-TW" altLang="en-US" sz="1600" b="1" dirty="0"/>
              <a:t>控制訊號端子</a:t>
            </a:r>
            <a:r>
              <a:rPr lang="zh-TW" altLang="en-US" sz="1600" dirty="0"/>
              <a:t>（綠色）</a:t>
            </a:r>
          </a:p>
          <a:p>
            <a:pPr lvl="1" algn="just">
              <a:lnSpc>
                <a:spcPct val="100000"/>
              </a:lnSpc>
            </a:pPr>
            <a:r>
              <a:rPr lang="en-US" altLang="zh-TW" sz="1600" dirty="0"/>
              <a:t>EN</a:t>
            </a:r>
            <a:r>
              <a:rPr lang="zh-TW" altLang="en-US" sz="1600" dirty="0"/>
              <a:t>（</a:t>
            </a:r>
            <a:r>
              <a:rPr lang="en-US" altLang="zh-TW" sz="1600" dirty="0"/>
              <a:t>Enable</a:t>
            </a:r>
            <a:r>
              <a:rPr lang="zh-TW" altLang="en-US" sz="1600" dirty="0"/>
              <a:t>）：啟動</a:t>
            </a:r>
            <a:r>
              <a:rPr lang="en-US" altLang="zh-TW" sz="1600" dirty="0"/>
              <a:t>/</a:t>
            </a:r>
            <a:r>
              <a:rPr lang="zh-TW" altLang="en-US" sz="1600" dirty="0"/>
              <a:t>關閉驅動板</a:t>
            </a:r>
          </a:p>
          <a:p>
            <a:pPr lvl="1" algn="just">
              <a:lnSpc>
                <a:spcPct val="100000"/>
              </a:lnSpc>
            </a:pPr>
            <a:r>
              <a:rPr lang="en-US" altLang="zh-TW" sz="1600" dirty="0"/>
              <a:t>RST</a:t>
            </a:r>
            <a:r>
              <a:rPr lang="zh-TW" altLang="en-US" sz="1600" dirty="0"/>
              <a:t>（</a:t>
            </a:r>
            <a:r>
              <a:rPr lang="en-US" altLang="zh-TW" sz="1600" dirty="0"/>
              <a:t>Reset</a:t>
            </a:r>
            <a:r>
              <a:rPr lang="zh-TW" altLang="en-US" sz="1600" dirty="0"/>
              <a:t>）：訊號重置</a:t>
            </a:r>
          </a:p>
          <a:p>
            <a:pPr lvl="1" algn="just">
              <a:lnSpc>
                <a:spcPct val="100000"/>
              </a:lnSpc>
            </a:pPr>
            <a:r>
              <a:rPr lang="en-US" altLang="zh-TW" sz="1600" dirty="0"/>
              <a:t>SLP</a:t>
            </a:r>
            <a:r>
              <a:rPr lang="zh-TW" altLang="en-US" sz="1600" dirty="0"/>
              <a:t>（</a:t>
            </a:r>
            <a:r>
              <a:rPr lang="en-US" altLang="zh-TW" sz="1600" dirty="0"/>
              <a:t>Sleep</a:t>
            </a:r>
            <a:r>
              <a:rPr lang="zh-TW" altLang="en-US" sz="1600" dirty="0"/>
              <a:t>）：睡眠省電模式</a:t>
            </a:r>
          </a:p>
          <a:p>
            <a:pPr lvl="1" algn="just">
              <a:lnSpc>
                <a:spcPct val="100000"/>
              </a:lnSpc>
            </a:pPr>
            <a:r>
              <a:rPr lang="en-US" altLang="zh-TW" sz="1600" dirty="0"/>
              <a:t>STEP</a:t>
            </a:r>
            <a:r>
              <a:rPr lang="zh-TW" altLang="en-US" sz="1600" dirty="0"/>
              <a:t>：給予脈衝控制步進（每脈衝前進一步）</a:t>
            </a:r>
          </a:p>
          <a:p>
            <a:pPr lvl="1" algn="just">
              <a:lnSpc>
                <a:spcPct val="100000"/>
              </a:lnSpc>
            </a:pPr>
            <a:r>
              <a:rPr lang="en-US" altLang="zh-TW" sz="1600" dirty="0"/>
              <a:t>DIR</a:t>
            </a:r>
            <a:r>
              <a:rPr lang="zh-TW" altLang="en-US" sz="1600" dirty="0"/>
              <a:t>（</a:t>
            </a:r>
            <a:r>
              <a:rPr lang="en-US" altLang="zh-TW" sz="1600" dirty="0"/>
              <a:t>Direction</a:t>
            </a:r>
            <a:r>
              <a:rPr lang="zh-TW" altLang="en-US" sz="1600" dirty="0"/>
              <a:t>）：控制馬達旋轉方向</a:t>
            </a:r>
          </a:p>
          <a:p>
            <a:pPr algn="just">
              <a:lnSpc>
                <a:spcPct val="100000"/>
              </a:lnSpc>
            </a:pPr>
            <a:r>
              <a:rPr lang="zh-TW" altLang="en-US" sz="1600" b="1" dirty="0"/>
              <a:t>細分選擇端子</a:t>
            </a:r>
            <a:r>
              <a:rPr lang="zh-TW" altLang="en-US" sz="1600" dirty="0"/>
              <a:t>（棕色）</a:t>
            </a:r>
          </a:p>
          <a:p>
            <a:pPr lvl="1" algn="just">
              <a:lnSpc>
                <a:spcPct val="100000"/>
              </a:lnSpc>
            </a:pPr>
            <a:r>
              <a:rPr lang="en-US" altLang="zh-TW" sz="1600" dirty="0"/>
              <a:t>M0, M1, M2</a:t>
            </a:r>
            <a:r>
              <a:rPr lang="zh-TW" altLang="en-US" sz="1600" dirty="0"/>
              <a:t>：設定微步（細分）模式，組合不同等級分辨率（</a:t>
            </a:r>
            <a:r>
              <a:rPr lang="en-US" altLang="zh-TW" sz="1600" dirty="0"/>
              <a:t>Full, 1/2, 1/4, 1/8, 1/16, 1/32</a:t>
            </a:r>
            <a:r>
              <a:rPr lang="zh-TW" altLang="en-US" sz="1600" dirty="0"/>
              <a:t>）</a:t>
            </a:r>
          </a:p>
          <a:p>
            <a:pPr algn="just">
              <a:lnSpc>
                <a:spcPct val="100000"/>
              </a:lnSpc>
            </a:pPr>
            <a:r>
              <a:rPr lang="zh-TW" altLang="en-US" sz="1600" b="1" dirty="0"/>
              <a:t>供電端子</a:t>
            </a:r>
            <a:r>
              <a:rPr lang="zh-TW" altLang="en-US" sz="1600" dirty="0"/>
              <a:t>（紅色）</a:t>
            </a:r>
          </a:p>
          <a:p>
            <a:pPr lvl="1" algn="just">
              <a:lnSpc>
                <a:spcPct val="100000"/>
              </a:lnSpc>
            </a:pPr>
            <a:r>
              <a:rPr lang="en-US" altLang="zh-TW" sz="1600" dirty="0"/>
              <a:t>VMOT</a:t>
            </a:r>
            <a:r>
              <a:rPr lang="zh-TW" altLang="en-US" sz="1600" dirty="0"/>
              <a:t>：馬達供電（</a:t>
            </a:r>
            <a:r>
              <a:rPr lang="en-US" altLang="zh-TW" sz="1600" dirty="0"/>
              <a:t>12V~36V</a:t>
            </a:r>
            <a:r>
              <a:rPr lang="zh-TW" altLang="en-US" sz="1600" dirty="0"/>
              <a:t>建議依馬達規格選用）</a:t>
            </a:r>
          </a:p>
          <a:p>
            <a:pPr lvl="1" algn="just">
              <a:lnSpc>
                <a:spcPct val="100000"/>
              </a:lnSpc>
            </a:pPr>
            <a:r>
              <a:rPr lang="en-US" altLang="zh-TW" sz="1600" dirty="0"/>
              <a:t>GND</a:t>
            </a:r>
            <a:r>
              <a:rPr lang="zh-TW" altLang="en-US" sz="1600" dirty="0"/>
              <a:t>：電源地</a:t>
            </a:r>
          </a:p>
          <a:p>
            <a:pPr algn="just">
              <a:lnSpc>
                <a:spcPct val="100000"/>
              </a:lnSpc>
            </a:pPr>
            <a:r>
              <a:rPr lang="zh-TW" altLang="en-US" sz="1600" b="1" dirty="0"/>
              <a:t>故障回報端子</a:t>
            </a:r>
            <a:r>
              <a:rPr lang="zh-TW" altLang="en-US" sz="1600" dirty="0"/>
              <a:t>（淺藍色）</a:t>
            </a:r>
          </a:p>
          <a:p>
            <a:pPr lvl="1" algn="just">
              <a:lnSpc>
                <a:spcPct val="100000"/>
              </a:lnSpc>
            </a:pPr>
            <a:r>
              <a:rPr lang="en-US" altLang="zh-TW" sz="1600" dirty="0"/>
              <a:t>FAULT</a:t>
            </a:r>
            <a:r>
              <a:rPr lang="zh-TW" altLang="en-US" sz="1600" dirty="0"/>
              <a:t>：偵測錯誤狀況，如過流、溫度異常等</a:t>
            </a:r>
            <a:r>
              <a:rPr lang="en-US" altLang="zh-TW" sz="1600" dirty="0"/>
              <a:t>SLP</a:t>
            </a:r>
            <a:r>
              <a:rPr lang="zh-TW" altLang="en-US" sz="1600" dirty="0"/>
              <a:t>功能省電或緊急停機。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2BCFFB-50F9-A2A8-2A69-8FB20F247F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493"/>
          <a:stretch>
            <a:fillRect/>
          </a:stretch>
        </p:blipFill>
        <p:spPr>
          <a:xfrm>
            <a:off x="0" y="1690688"/>
            <a:ext cx="5559287" cy="4224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47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4001C-5772-4316-8A33-2EE5C9FBE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7A0F77-FB50-BB1A-EF7A-EAF423EBC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DRV8825</a:t>
            </a:r>
            <a:r>
              <a:rPr lang="zh-TW" altLang="en-US" b="1" dirty="0"/>
              <a:t>步進驅動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06D635-224C-F37E-53EE-B316D239D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4174" y="1363108"/>
            <a:ext cx="5402003" cy="5262979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00000"/>
              </a:lnSpc>
            </a:pPr>
            <a:r>
              <a:rPr lang="zh-TW" altLang="en-US" sz="1800" b="1" dirty="0"/>
              <a:t>應用與接線說明</a:t>
            </a:r>
          </a:p>
          <a:p>
            <a:pPr algn="just">
              <a:lnSpc>
                <a:spcPct val="100000"/>
              </a:lnSpc>
            </a:pPr>
            <a:r>
              <a:rPr lang="zh-TW" altLang="en-US" sz="1800" dirty="0"/>
              <a:t>控制端（</a:t>
            </a:r>
            <a:r>
              <a:rPr lang="en-US" altLang="zh-TW" sz="1800" dirty="0"/>
              <a:t>STEP</a:t>
            </a:r>
            <a:r>
              <a:rPr lang="zh-TW" altLang="en-US" sz="1800" dirty="0"/>
              <a:t>、</a:t>
            </a:r>
            <a:r>
              <a:rPr lang="en-US" altLang="zh-TW" sz="1800" dirty="0"/>
              <a:t>DIR</a:t>
            </a:r>
            <a:r>
              <a:rPr lang="zh-TW" altLang="en-US" sz="1800" dirty="0"/>
              <a:t>）常接微控制器（如</a:t>
            </a:r>
            <a:r>
              <a:rPr lang="en-US" altLang="zh-TW" sz="1800" dirty="0"/>
              <a:t>Arduino</a:t>
            </a:r>
            <a:r>
              <a:rPr lang="zh-TW" altLang="en-US" sz="1800" dirty="0"/>
              <a:t>、</a:t>
            </a:r>
            <a:r>
              <a:rPr lang="en-US" altLang="zh-TW" sz="1800" dirty="0"/>
              <a:t>ESP32</a:t>
            </a:r>
            <a:r>
              <a:rPr lang="zh-TW" altLang="en-US" sz="1800" dirty="0"/>
              <a:t>）對應</a:t>
            </a:r>
            <a:r>
              <a:rPr lang="en-US" altLang="zh-TW" sz="1800" dirty="0"/>
              <a:t>GPIO</a:t>
            </a:r>
            <a:r>
              <a:rPr lang="zh-TW" altLang="en-US" sz="1800" dirty="0"/>
              <a:t>腳</a:t>
            </a:r>
          </a:p>
          <a:p>
            <a:pPr algn="just">
              <a:lnSpc>
                <a:spcPct val="100000"/>
              </a:lnSpc>
            </a:pPr>
            <a:r>
              <a:rPr lang="zh-TW" altLang="en-US" sz="1800" dirty="0"/>
              <a:t>供電端（</a:t>
            </a:r>
            <a:r>
              <a:rPr lang="en-US" altLang="zh-TW" sz="1800" dirty="0"/>
              <a:t>VMOT</a:t>
            </a:r>
            <a:r>
              <a:rPr lang="zh-TW" altLang="en-US" sz="1800" dirty="0"/>
              <a:t>、</a:t>
            </a:r>
            <a:r>
              <a:rPr lang="en-US" altLang="zh-TW" sz="1800" dirty="0"/>
              <a:t>GND</a:t>
            </a:r>
            <a:r>
              <a:rPr lang="zh-TW" altLang="en-US" sz="1800" dirty="0"/>
              <a:t>）接穩壓電源（馬達規格</a:t>
            </a:r>
            <a:r>
              <a:rPr lang="en-US" altLang="zh-TW" sz="1800" dirty="0"/>
              <a:t>12V~24V</a:t>
            </a:r>
            <a:r>
              <a:rPr lang="zh-TW" altLang="en-US" sz="1800" dirty="0"/>
              <a:t>最常見）</a:t>
            </a:r>
          </a:p>
          <a:p>
            <a:pPr algn="just">
              <a:lnSpc>
                <a:spcPct val="100000"/>
              </a:lnSpc>
            </a:pPr>
            <a:r>
              <a:rPr lang="zh-TW" altLang="en-US" sz="1800" dirty="0"/>
              <a:t>馬達端（</a:t>
            </a:r>
            <a:r>
              <a:rPr lang="en-US" altLang="zh-TW" sz="1800" dirty="0"/>
              <a:t>B2, A2, A1, B1</a:t>
            </a:r>
            <a:r>
              <a:rPr lang="zh-TW" altLang="en-US" sz="1800" dirty="0"/>
              <a:t>）務必對應正確線圈配對</a:t>
            </a:r>
          </a:p>
          <a:p>
            <a:pPr algn="just">
              <a:lnSpc>
                <a:spcPct val="100000"/>
              </a:lnSpc>
            </a:pPr>
            <a:r>
              <a:rPr lang="en-US" altLang="zh-TW" sz="1800" dirty="0"/>
              <a:t>M0/M1/M2</a:t>
            </a:r>
            <a:r>
              <a:rPr lang="zh-TW" altLang="en-US" sz="1800" dirty="0"/>
              <a:t>接高低電位自定義細分等級，決定單步進精度</a:t>
            </a:r>
          </a:p>
          <a:p>
            <a:pPr algn="just">
              <a:lnSpc>
                <a:spcPct val="100000"/>
              </a:lnSpc>
            </a:pPr>
            <a:r>
              <a:rPr lang="en-US" altLang="zh-TW" sz="1800" dirty="0"/>
              <a:t>EN/SLEEP/RESET</a:t>
            </a:r>
            <a:r>
              <a:rPr lang="zh-TW" altLang="en-US" sz="1800" dirty="0"/>
              <a:t>可用於控制運作狀態或省電</a:t>
            </a:r>
          </a:p>
          <a:p>
            <a:pPr algn="just">
              <a:lnSpc>
                <a:spcPct val="100000"/>
              </a:lnSpc>
            </a:pPr>
            <a:r>
              <a:rPr lang="en-US" altLang="zh-TW" sz="1800" dirty="0"/>
              <a:t>FAULT</a:t>
            </a:r>
            <a:r>
              <a:rPr lang="zh-TW" altLang="en-US" sz="1800" dirty="0"/>
              <a:t>可用於系統監控、保護驅動元件</a:t>
            </a:r>
          </a:p>
          <a:p>
            <a:pPr algn="just">
              <a:lnSpc>
                <a:spcPct val="100000"/>
              </a:lnSpc>
            </a:pPr>
            <a:r>
              <a:rPr lang="en-US" altLang="zh-TW" sz="1800" dirty="0"/>
              <a:t>DRV8825</a:t>
            </a:r>
            <a:r>
              <a:rPr lang="zh-TW" altLang="en-US" sz="1800" dirty="0"/>
              <a:t>適合高精度控制、低噪音運作且支援多種細分級距。使用時請注意供電穩定、散熱充足，並針對馬達電流設定限流電位器確保安全。</a:t>
            </a:r>
            <a:r>
              <a:rPr lang="en-US" altLang="zh-TW" sz="1800" dirty="0"/>
              <a:t>DRV8825</a:t>
            </a:r>
            <a:r>
              <a:rPr lang="zh-TW" altLang="en-US" sz="1800" dirty="0"/>
              <a:t>步進馬達驅動板是常用於精密運動控制的微步進驅動模組，適合驅動如</a:t>
            </a:r>
            <a:r>
              <a:rPr lang="en-US" altLang="zh-TW" sz="1800" dirty="0"/>
              <a:t>NEMA17</a:t>
            </a:r>
            <a:r>
              <a:rPr lang="zh-TW" altLang="en-US" sz="1800" dirty="0"/>
              <a:t>型步進馬達。其主要針腳與功能如下：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B5B6DB-CFA4-1420-0F60-1CFAB83C00AA}"/>
              </a:ext>
            </a:extLst>
          </p:cNvPr>
          <p:cNvSpPr txBox="1"/>
          <p:nvPr/>
        </p:nvSpPr>
        <p:spPr>
          <a:xfrm>
            <a:off x="395823" y="1363108"/>
            <a:ext cx="5555974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600" b="1" dirty="0"/>
              <a:t>馬達接線（</a:t>
            </a:r>
            <a:r>
              <a:rPr lang="en-US" altLang="zh-TW" sz="1600" b="1" dirty="0"/>
              <a:t>Motor pins</a:t>
            </a:r>
            <a:r>
              <a:rPr lang="zh-TW" altLang="en-US" sz="1600" b="1" dirty="0"/>
              <a:t>）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/>
              <a:t>B2</a:t>
            </a:r>
            <a:r>
              <a:rPr lang="zh-TW" altLang="en-US" sz="1600" b="1" dirty="0"/>
              <a:t>、</a:t>
            </a:r>
            <a:r>
              <a:rPr lang="en-US" altLang="zh-TW" sz="1600" b="1" dirty="0"/>
              <a:t>A2</a:t>
            </a:r>
            <a:r>
              <a:rPr lang="zh-TW" altLang="en-US" sz="1600" b="1" dirty="0"/>
              <a:t>、</a:t>
            </a:r>
            <a:r>
              <a:rPr lang="en-US" altLang="zh-TW" sz="1600" b="1" dirty="0"/>
              <a:t>A1</a:t>
            </a:r>
            <a:r>
              <a:rPr lang="zh-TW" altLang="en-US" sz="1600" b="1" dirty="0"/>
              <a:t>、</a:t>
            </a:r>
            <a:r>
              <a:rPr lang="en-US" altLang="zh-TW" sz="1600" b="1" dirty="0"/>
              <a:t>B1</a:t>
            </a:r>
            <a:r>
              <a:rPr lang="zh-TW" altLang="en-US" sz="1600" dirty="0"/>
              <a:t>：連接步進馬達的兩組線圈。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600" b="1" dirty="0"/>
              <a:t>控制信號（</a:t>
            </a:r>
            <a:r>
              <a:rPr lang="en-US" altLang="zh-TW" sz="1600" b="1" dirty="0"/>
              <a:t>Control pins</a:t>
            </a:r>
            <a:r>
              <a:rPr lang="zh-TW" altLang="en-US" sz="1600" b="1" dirty="0"/>
              <a:t>）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/>
              <a:t>EN</a:t>
            </a:r>
            <a:r>
              <a:rPr lang="zh-TW" altLang="en-US" sz="1600" dirty="0"/>
              <a:t>：</a:t>
            </a:r>
            <a:r>
              <a:rPr lang="en-US" altLang="zh-TW" sz="1600" dirty="0"/>
              <a:t>Enable</a:t>
            </a:r>
            <a:r>
              <a:rPr lang="zh-TW" altLang="en-US" sz="1600" dirty="0"/>
              <a:t>，啟動</a:t>
            </a:r>
            <a:r>
              <a:rPr lang="en-US" altLang="zh-TW" sz="1600" dirty="0"/>
              <a:t>/</a:t>
            </a:r>
            <a:r>
              <a:rPr lang="zh-TW" altLang="en-US" sz="1600" dirty="0"/>
              <a:t>關閉馬達（低電位啟動）。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/>
              <a:t>RST</a:t>
            </a:r>
            <a:r>
              <a:rPr lang="zh-TW" altLang="en-US" sz="1600" dirty="0"/>
              <a:t>：</a:t>
            </a:r>
            <a:r>
              <a:rPr lang="en-US" altLang="zh-TW" sz="1600" dirty="0"/>
              <a:t>Reset</a:t>
            </a:r>
            <a:r>
              <a:rPr lang="zh-TW" altLang="en-US" sz="1600" dirty="0"/>
              <a:t>，重置驅動板。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/>
              <a:t>SLP</a:t>
            </a:r>
            <a:r>
              <a:rPr lang="zh-TW" altLang="en-US" sz="1600" dirty="0"/>
              <a:t>：</a:t>
            </a:r>
            <a:r>
              <a:rPr lang="en-US" altLang="zh-TW" sz="1600" dirty="0"/>
              <a:t>Sleep</a:t>
            </a:r>
            <a:r>
              <a:rPr lang="zh-TW" altLang="en-US" sz="1600" dirty="0"/>
              <a:t>，睡眠模式（低電位時休眠、節能）。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/>
              <a:t>STEP</a:t>
            </a:r>
            <a:r>
              <a:rPr lang="zh-TW" altLang="en-US" sz="1600" dirty="0"/>
              <a:t>：脈衝信號，每一個高</a:t>
            </a:r>
            <a:r>
              <a:rPr lang="en-US" altLang="zh-TW" sz="1600" dirty="0"/>
              <a:t>/</a:t>
            </a:r>
            <a:r>
              <a:rPr lang="zh-TW" altLang="en-US" sz="1600" dirty="0"/>
              <a:t>低脈衝步進一次。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/>
              <a:t>DIR</a:t>
            </a:r>
            <a:r>
              <a:rPr lang="zh-TW" altLang="en-US" sz="1600" dirty="0"/>
              <a:t>：</a:t>
            </a:r>
            <a:r>
              <a:rPr lang="en-US" altLang="zh-TW" sz="1600" dirty="0"/>
              <a:t>Direction</a:t>
            </a:r>
            <a:r>
              <a:rPr lang="zh-TW" altLang="en-US" sz="1600" dirty="0"/>
              <a:t>，控制馬達旋轉方向。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600" b="1" dirty="0"/>
              <a:t>步距細分選擇（</a:t>
            </a:r>
            <a:r>
              <a:rPr lang="en-US" altLang="zh-TW" sz="1600" b="1" dirty="0"/>
              <a:t>Step size selection pins</a:t>
            </a:r>
            <a:r>
              <a:rPr lang="zh-TW" altLang="en-US" sz="1600" b="1" dirty="0"/>
              <a:t>）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/>
              <a:t>M0</a:t>
            </a:r>
            <a:r>
              <a:rPr lang="zh-TW" altLang="en-US" sz="1600" b="1" dirty="0"/>
              <a:t>、</a:t>
            </a:r>
            <a:r>
              <a:rPr lang="en-US" altLang="zh-TW" sz="1600" b="1" dirty="0"/>
              <a:t>M1</a:t>
            </a:r>
            <a:r>
              <a:rPr lang="zh-TW" altLang="en-US" sz="1600" b="1" dirty="0"/>
              <a:t>、</a:t>
            </a:r>
            <a:r>
              <a:rPr lang="en-US" altLang="zh-TW" sz="1600" b="1" dirty="0"/>
              <a:t>M2</a:t>
            </a:r>
            <a:r>
              <a:rPr lang="zh-TW" altLang="en-US" sz="1600" dirty="0"/>
              <a:t>：微步細分模式選擇，搭配不同高低電位組合可實現全步</a:t>
            </a:r>
            <a:r>
              <a:rPr lang="en-US" altLang="zh-TW" sz="1600" dirty="0"/>
              <a:t>/</a:t>
            </a:r>
            <a:r>
              <a:rPr lang="zh-TW" altLang="en-US" sz="1600" dirty="0"/>
              <a:t>半步</a:t>
            </a:r>
            <a:r>
              <a:rPr lang="en-US" altLang="zh-TW" sz="1600" dirty="0"/>
              <a:t>/</a:t>
            </a:r>
            <a:r>
              <a:rPr lang="zh-TW" altLang="en-US" sz="1600" dirty="0"/>
              <a:t>微步（</a:t>
            </a:r>
            <a:r>
              <a:rPr lang="en-US" altLang="zh-TW" sz="1600" dirty="0"/>
              <a:t>1/4</a:t>
            </a:r>
            <a:r>
              <a:rPr lang="zh-TW" altLang="en-US" sz="1600" dirty="0"/>
              <a:t>、</a:t>
            </a:r>
            <a:r>
              <a:rPr lang="en-US" altLang="zh-TW" sz="1600" dirty="0"/>
              <a:t>1/8</a:t>
            </a:r>
            <a:r>
              <a:rPr lang="zh-TW" altLang="en-US" sz="1600" dirty="0"/>
              <a:t>、</a:t>
            </a:r>
            <a:r>
              <a:rPr lang="en-US" altLang="zh-TW" sz="1600" dirty="0"/>
              <a:t>1/16</a:t>
            </a:r>
            <a:r>
              <a:rPr lang="zh-TW" altLang="en-US" sz="1600" dirty="0"/>
              <a:t>、</a:t>
            </a:r>
            <a:r>
              <a:rPr lang="en-US" altLang="zh-TW" sz="1600" dirty="0"/>
              <a:t>1/32</a:t>
            </a:r>
            <a:r>
              <a:rPr lang="zh-TW" altLang="en-US" sz="1600" dirty="0"/>
              <a:t>）等精度。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600" b="1" dirty="0"/>
              <a:t>電源接腳（</a:t>
            </a:r>
            <a:r>
              <a:rPr lang="en-US" altLang="zh-TW" sz="1600" b="1" dirty="0"/>
              <a:t>Power pins</a:t>
            </a:r>
            <a:r>
              <a:rPr lang="zh-TW" altLang="en-US" sz="1600" b="1" dirty="0"/>
              <a:t>）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/>
              <a:t>VMOT</a:t>
            </a:r>
            <a:r>
              <a:rPr lang="zh-TW" altLang="en-US" sz="1600" dirty="0"/>
              <a:t>：外部馬達電源輸入（常用</a:t>
            </a:r>
            <a:r>
              <a:rPr lang="en-US" altLang="zh-TW" sz="1600" dirty="0"/>
              <a:t>12~36V</a:t>
            </a:r>
            <a:r>
              <a:rPr lang="zh-TW" altLang="en-US" sz="1600" dirty="0"/>
              <a:t>）。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/>
              <a:t>GND</a:t>
            </a:r>
            <a:r>
              <a:rPr lang="zh-TW" altLang="en-US" sz="1600" dirty="0"/>
              <a:t>：地線，與系統共地。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TW" altLang="en-US" sz="1600" b="1" dirty="0"/>
              <a:t>故障回報（</a:t>
            </a:r>
            <a:r>
              <a:rPr lang="en-US" altLang="zh-TW" sz="1600" b="1" dirty="0"/>
              <a:t>Fault pin</a:t>
            </a:r>
            <a:r>
              <a:rPr lang="zh-TW" altLang="en-US" sz="1600" b="1" dirty="0"/>
              <a:t>）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b="1" dirty="0"/>
              <a:t>FAULT</a:t>
            </a:r>
            <a:r>
              <a:rPr lang="zh-TW" altLang="en-US" sz="1600" dirty="0"/>
              <a:t>：反饋驅動器工作狀態，如過流或過熱。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zh-TW" sz="1600" dirty="0"/>
              <a:t>DRV8825</a:t>
            </a:r>
            <a:r>
              <a:rPr lang="zh-TW" altLang="en-US" sz="1600" dirty="0"/>
              <a:t>可高精度細分驅動雙極型步進馬達，搭配微控制器（如</a:t>
            </a:r>
            <a:r>
              <a:rPr lang="en-US" altLang="zh-TW" sz="1600" dirty="0"/>
              <a:t>ESP32</a:t>
            </a:r>
            <a:r>
              <a:rPr lang="zh-TW" altLang="en-US" sz="1600" dirty="0"/>
              <a:t>、</a:t>
            </a:r>
            <a:r>
              <a:rPr lang="en-US" altLang="zh-TW" sz="1600" dirty="0"/>
              <a:t>Arduino</a:t>
            </a:r>
            <a:r>
              <a:rPr lang="zh-TW" altLang="en-US" sz="1600" dirty="0"/>
              <a:t>等）直接輸入脈衝訊號（</a:t>
            </a:r>
            <a:r>
              <a:rPr lang="en-US" altLang="zh-TW" sz="1600" dirty="0"/>
              <a:t>STEP</a:t>
            </a:r>
            <a:r>
              <a:rPr lang="zh-TW" altLang="en-US" sz="1600" dirty="0"/>
              <a:t>）與方向訊號（</a:t>
            </a:r>
            <a:r>
              <a:rPr lang="en-US" altLang="zh-TW" sz="1600" dirty="0"/>
              <a:t>DIR</a:t>
            </a:r>
            <a:r>
              <a:rPr lang="zh-TW" altLang="en-US" sz="1600" dirty="0"/>
              <a:t>），即可穩定精確控制馬達運動。注意供電必須穩定、驅動電流要符合馬達規格，並善用</a:t>
            </a:r>
            <a:r>
              <a:rPr lang="en-US" altLang="zh-TW" sz="1600" dirty="0"/>
              <a:t>EN</a:t>
            </a:r>
            <a:r>
              <a:rPr lang="zh-TW" altLang="en-US" sz="1600" dirty="0"/>
              <a:t>、</a:t>
            </a:r>
            <a:r>
              <a:rPr lang="en-US" altLang="zh-TW" sz="1600" dirty="0"/>
              <a:t>SLP</a:t>
            </a:r>
            <a:r>
              <a:rPr lang="zh-TW" altLang="en-US" sz="1600" dirty="0"/>
              <a:t>功能省電或緊急停機。</a:t>
            </a:r>
          </a:p>
        </p:txBody>
      </p:sp>
    </p:spTree>
    <p:extLst>
      <p:ext uri="{BB962C8B-B14F-4D97-AF65-F5344CB8AC3E}">
        <p14:creationId xmlns:p14="http://schemas.microsoft.com/office/powerpoint/2010/main" val="2233991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A6757F-808B-177A-C5FD-F2C34C88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AS5600 </a:t>
            </a:r>
            <a:r>
              <a:rPr lang="zh-TW" altLang="en-US" dirty="0"/>
              <a:t>感測器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B961F8-0C3B-CCF0-FDCA-D91AAC87F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1746" y="271670"/>
            <a:ext cx="5527976" cy="6407426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altLang="zh-TW" sz="1200" dirty="0"/>
              <a:t>AS5600 </a:t>
            </a:r>
            <a:r>
              <a:rPr lang="zh-TW" altLang="en-US" sz="1200" dirty="0"/>
              <a:t>感測器是一款磁性感測旋轉編碼器模組，提供高解析度角度量測，適合自動化、機器人與馬達控制應用。以下針腳說明與功能整理：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b="1" dirty="0"/>
              <a:t>主要針腳功能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b="1" dirty="0"/>
              <a:t>VCC</a:t>
            </a:r>
            <a:r>
              <a:rPr lang="zh-TW" altLang="en-US" sz="1200" dirty="0"/>
              <a:t>：模組電源（</a:t>
            </a:r>
            <a:r>
              <a:rPr lang="en-US" altLang="zh-TW" sz="1200" dirty="0"/>
              <a:t>3.3V</a:t>
            </a:r>
            <a:r>
              <a:rPr lang="zh-TW" altLang="en-US" sz="1200" dirty="0"/>
              <a:t>）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b="1" dirty="0"/>
              <a:t>GND</a:t>
            </a:r>
            <a:r>
              <a:rPr lang="zh-TW" altLang="en-US" sz="1200" dirty="0"/>
              <a:t>：地線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b="1" dirty="0"/>
              <a:t>OUT</a:t>
            </a:r>
            <a:r>
              <a:rPr lang="zh-TW" altLang="en-US" sz="1200" dirty="0"/>
              <a:t>：</a:t>
            </a:r>
            <a:r>
              <a:rPr lang="en-US" altLang="zh-TW" sz="1200" dirty="0"/>
              <a:t>PWM </a:t>
            </a:r>
            <a:r>
              <a:rPr lang="zh-TW" altLang="en-US" sz="1200" dirty="0"/>
              <a:t>或類比電壓輸出角度訊號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b="1" dirty="0"/>
              <a:t>SCL</a:t>
            </a:r>
            <a:r>
              <a:rPr lang="zh-TW" altLang="en-US" sz="1200" dirty="0"/>
              <a:t>：</a:t>
            </a:r>
            <a:r>
              <a:rPr lang="en-US" altLang="zh-TW" sz="1200" dirty="0"/>
              <a:t>I2C </a:t>
            </a:r>
            <a:r>
              <a:rPr lang="zh-TW" altLang="en-US" sz="1200" dirty="0"/>
              <a:t>通訊時鐘（</a:t>
            </a:r>
            <a:r>
              <a:rPr lang="en-US" altLang="zh-TW" sz="1200" dirty="0"/>
              <a:t>Serial Clock Line</a:t>
            </a:r>
            <a:r>
              <a:rPr lang="zh-TW" altLang="en-US" sz="1200" dirty="0"/>
              <a:t>）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b="1" dirty="0"/>
              <a:t>SDA</a:t>
            </a:r>
            <a:r>
              <a:rPr lang="zh-TW" altLang="en-US" sz="1200" dirty="0"/>
              <a:t>：</a:t>
            </a:r>
            <a:r>
              <a:rPr lang="en-US" altLang="zh-TW" sz="1200" dirty="0"/>
              <a:t>I2C </a:t>
            </a:r>
            <a:r>
              <a:rPr lang="zh-TW" altLang="en-US" sz="1200" dirty="0"/>
              <a:t>通訊資料線（</a:t>
            </a:r>
            <a:r>
              <a:rPr lang="en-US" altLang="zh-TW" sz="1200" dirty="0"/>
              <a:t>Serial Data Line</a:t>
            </a:r>
            <a:r>
              <a:rPr lang="zh-TW" altLang="en-US" sz="1200" dirty="0"/>
              <a:t>）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b="1" dirty="0"/>
              <a:t>GPO</a:t>
            </a:r>
            <a:r>
              <a:rPr lang="zh-TW" altLang="en-US" sz="1200" dirty="0"/>
              <a:t>：模式選擇腳（內部上拉為預設模式，接地為程式設計模式</a:t>
            </a:r>
            <a:r>
              <a:rPr lang="en-US" altLang="zh-TW" sz="1200" dirty="0"/>
              <a:t>B</a:t>
            </a:r>
            <a:r>
              <a:rPr lang="zh-TW" altLang="en-US" sz="1200" dirty="0"/>
              <a:t>）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b="1" dirty="0"/>
              <a:t>DIR</a:t>
            </a:r>
            <a:r>
              <a:rPr lang="zh-TW" altLang="en-US" sz="1200" dirty="0"/>
              <a:t>：旋轉方向設置腳（接地時角度值隨順時針遞增，接 </a:t>
            </a:r>
            <a:r>
              <a:rPr lang="en-US" altLang="zh-TW" sz="1200" dirty="0"/>
              <a:t>VCC </a:t>
            </a:r>
            <a:r>
              <a:rPr lang="zh-TW" altLang="en-US" sz="1200" dirty="0"/>
              <a:t>反方向遞增）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b="1" dirty="0"/>
              <a:t>特色與應用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dirty="0"/>
              <a:t>解析度高，單圈磁性感測精度可達 </a:t>
            </a:r>
            <a:r>
              <a:rPr lang="en-US" altLang="zh-TW" sz="1200" dirty="0"/>
              <a:t>12 bit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dirty="0"/>
              <a:t>可同時支援 </a:t>
            </a:r>
            <a:r>
              <a:rPr lang="en-US" altLang="zh-TW" sz="1200" dirty="0"/>
              <a:t>PWM</a:t>
            </a:r>
            <a:r>
              <a:rPr lang="zh-TW" altLang="en-US" sz="1200" dirty="0"/>
              <a:t>、</a:t>
            </a:r>
            <a:r>
              <a:rPr lang="en-US" altLang="zh-TW" sz="1200" dirty="0"/>
              <a:t>I2C </a:t>
            </a:r>
            <a:r>
              <a:rPr lang="zh-TW" altLang="en-US" sz="1200" dirty="0"/>
              <a:t>與電壓類比三種角度輸出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dirty="0"/>
              <a:t>I2C </a:t>
            </a:r>
            <a:r>
              <a:rPr lang="zh-TW" altLang="en-US" sz="1200" dirty="0"/>
              <a:t>通訊可進行數位角度讀取，便於單片機資訊整合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dirty="0"/>
              <a:t>適用於馬達角度偵測、舵機定位、旋轉控制裝置、機械臂關節等場合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b="1" dirty="0"/>
              <a:t>典型接線方式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b="1" dirty="0"/>
              <a:t>I2C</a:t>
            </a:r>
            <a:r>
              <a:rPr lang="zh-TW" altLang="en-US" sz="1200" b="1" dirty="0"/>
              <a:t>連接</a:t>
            </a:r>
            <a:r>
              <a:rPr lang="zh-TW" altLang="en-US" sz="1200" dirty="0"/>
              <a:t>：</a:t>
            </a:r>
            <a:r>
              <a:rPr lang="en-US" altLang="zh-TW" sz="1200" dirty="0"/>
              <a:t>VCC → 3.3V</a:t>
            </a:r>
            <a:r>
              <a:rPr lang="zh-TW" altLang="en-US" sz="1200" dirty="0"/>
              <a:t>、</a:t>
            </a:r>
            <a:r>
              <a:rPr lang="en-US" altLang="zh-TW" sz="1200" dirty="0"/>
              <a:t>GND → GND</a:t>
            </a:r>
            <a:r>
              <a:rPr lang="zh-TW" altLang="en-US" sz="1200" dirty="0"/>
              <a:t>、</a:t>
            </a:r>
            <a:r>
              <a:rPr lang="en-US" altLang="zh-TW" sz="1200" dirty="0"/>
              <a:t>SCL → </a:t>
            </a:r>
            <a:r>
              <a:rPr lang="zh-TW" altLang="en-US" sz="1200" dirty="0"/>
              <a:t>控制器時鐘腳（如</a:t>
            </a:r>
            <a:r>
              <a:rPr lang="en-US" altLang="zh-TW" sz="1200" dirty="0"/>
              <a:t>ESP32</a:t>
            </a:r>
            <a:r>
              <a:rPr lang="zh-TW" altLang="en-US" sz="1200" dirty="0"/>
              <a:t>的</a:t>
            </a:r>
            <a:r>
              <a:rPr lang="en-US" altLang="zh-TW" sz="1200" dirty="0"/>
              <a:t>GPIO22</a:t>
            </a:r>
            <a:r>
              <a:rPr lang="zh-TW" altLang="en-US" sz="1200" dirty="0"/>
              <a:t>）、</a:t>
            </a:r>
            <a:r>
              <a:rPr lang="en-US" altLang="zh-TW" sz="1200" dirty="0"/>
              <a:t>SDA → </a:t>
            </a:r>
            <a:r>
              <a:rPr lang="zh-TW" altLang="en-US" sz="1200" dirty="0"/>
              <a:t>控制器數據腳（如</a:t>
            </a:r>
            <a:r>
              <a:rPr lang="en-US" altLang="zh-TW" sz="1200" dirty="0"/>
              <a:t>ESP32</a:t>
            </a:r>
            <a:r>
              <a:rPr lang="zh-TW" altLang="en-US" sz="1200" dirty="0"/>
              <a:t>的</a:t>
            </a:r>
            <a:r>
              <a:rPr lang="en-US" altLang="zh-TW" sz="1200" dirty="0"/>
              <a:t>GPIO21</a:t>
            </a:r>
            <a:r>
              <a:rPr lang="zh-TW" altLang="en-US" sz="1200" dirty="0"/>
              <a:t>）</a:t>
            </a:r>
          </a:p>
          <a:p>
            <a:pPr algn="just">
              <a:lnSpc>
                <a:spcPct val="120000"/>
              </a:lnSpc>
            </a:pPr>
            <a:r>
              <a:rPr lang="en-US" altLang="zh-TW" sz="1200" b="1" dirty="0"/>
              <a:t>PWM</a:t>
            </a:r>
            <a:r>
              <a:rPr lang="zh-TW" altLang="en-US" sz="1200" b="1" dirty="0"/>
              <a:t>或類比輸出</a:t>
            </a:r>
            <a:r>
              <a:rPr lang="zh-TW" altLang="en-US" sz="1200" dirty="0"/>
              <a:t>：</a:t>
            </a:r>
            <a:r>
              <a:rPr lang="en-US" altLang="zh-TW" sz="1200" dirty="0"/>
              <a:t>OUT </a:t>
            </a:r>
            <a:r>
              <a:rPr lang="zh-TW" altLang="en-US" sz="1200" dirty="0"/>
              <a:t>腳輸出併至 </a:t>
            </a:r>
            <a:r>
              <a:rPr lang="en-US" altLang="zh-TW" sz="1200" dirty="0"/>
              <a:t>MCU ADC </a:t>
            </a:r>
            <a:r>
              <a:rPr lang="zh-TW" altLang="en-US" sz="1200" dirty="0"/>
              <a:t>端</a:t>
            </a:r>
          </a:p>
          <a:p>
            <a:pPr algn="just">
              <a:lnSpc>
                <a:spcPct val="120000"/>
              </a:lnSpc>
            </a:pPr>
            <a:r>
              <a:rPr lang="zh-TW" altLang="en-US" sz="1200" dirty="0"/>
              <a:t>依需要設置 </a:t>
            </a:r>
            <a:r>
              <a:rPr lang="en-US" altLang="zh-TW" sz="1200" dirty="0"/>
              <a:t>GPO</a:t>
            </a:r>
            <a:r>
              <a:rPr lang="zh-TW" altLang="en-US" sz="1200" dirty="0"/>
              <a:t>、</a:t>
            </a:r>
            <a:r>
              <a:rPr lang="en-US" altLang="zh-TW" sz="1200" dirty="0"/>
              <a:t>DIR </a:t>
            </a:r>
            <a:r>
              <a:rPr lang="zh-TW" altLang="en-US" sz="1200" dirty="0"/>
              <a:t>腳，預設可不接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45AC3B2-009E-D3F6-3A94-9C8A87E46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947" y="1581944"/>
            <a:ext cx="4862053" cy="48387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45261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349</TotalTime>
  <Words>1381</Words>
  <Application>Microsoft Office PowerPoint</Application>
  <PresentationFormat>寬螢幕</PresentationFormat>
  <Paragraphs>101</Paragraphs>
  <Slides>6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Aptos</vt:lpstr>
      <vt:lpstr>Arial</vt:lpstr>
      <vt:lpstr>Times New Roman</vt:lpstr>
      <vt:lpstr>Office 佈景主題</vt:lpstr>
      <vt:lpstr>步進馬達閉迴路控制</vt:lpstr>
      <vt:lpstr>步進馬達:17HS4401</vt:lpstr>
      <vt:lpstr>ESP32</vt:lpstr>
      <vt:lpstr>DRV8825步進驅動</vt:lpstr>
      <vt:lpstr>DRV8825步進驅動</vt:lpstr>
      <vt:lpstr>AS5600 感測器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C110104231</dc:creator>
  <cp:lastModifiedBy>C110104231</cp:lastModifiedBy>
  <cp:revision>20</cp:revision>
  <dcterms:created xsi:type="dcterms:W3CDTF">2025-10-04T02:49:25Z</dcterms:created>
  <dcterms:modified xsi:type="dcterms:W3CDTF">2025-10-04T08:54:53Z</dcterms:modified>
</cp:coreProperties>
</file>